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模拟证券投资大赛·中期路演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课程：证券期货操作实验　平台：同花顺模拟炒股</a:t>
            </a:r>
          </a:p>
          <a:p>
            <a:pPr>
              <a:defRPr sz="1500"/>
            </a:pPr>
            <a:r>
              <a:t>汇报内容：投资表现 / 收益对比 / 当前持仓 / 投资逻辑 / 阶段复盘 / 下一步计划</a:t>
            </a:r>
          </a:p>
          <a:p>
            <a:pPr>
              <a:defRPr sz="1500"/>
            </a:pPr>
            <a:r>
              <a:t>数据截止：2026-10-22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当前投资表现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初始资金：500万元</a:t>
            </a:r>
          </a:p>
          <a:p>
            <a:pPr>
              <a:defRPr sz="1500"/>
            </a:pPr>
            <a:r>
              <a:t>当前总资产：448.99万元</a:t>
            </a:r>
          </a:p>
          <a:p>
            <a:pPr>
              <a:defRPr sz="1500"/>
            </a:pPr>
            <a:r>
              <a:t>累计收益率：-10.20%</a:t>
            </a:r>
          </a:p>
          <a:p>
            <a:pPr>
              <a:defRPr sz="1500"/>
            </a:pPr>
            <a:r>
              <a:t>同期沪深300：-11.25%</a:t>
            </a:r>
          </a:p>
          <a:p>
            <a:pPr>
              <a:defRPr sz="1500"/>
            </a:pPr>
            <a:r>
              <a:t>现金：201.70万元（44.9%）</a:t>
            </a:r>
          </a:p>
          <a:p>
            <a:pPr>
              <a:defRPr sz="1500"/>
            </a:pPr>
            <a:r>
              <a:t>持仓：12只，累计交易42笔</a:t>
            </a:r>
          </a:p>
        </p:txBody>
      </p:sp>
      <p:pic>
        <p:nvPicPr>
          <p:cNvPr id="4" name="Picture 3" descr="净值曲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收益对比（同起点）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对比口径：以组合首个净值日为共同起点。</a:t>
            </a:r>
          </a:p>
          <a:p>
            <a:pPr>
              <a:defRPr sz="1500"/>
            </a:pPr>
            <a:r>
              <a:t>组合收益 = 交易盈亏 + 浮动盈亏 − 交易费用。</a:t>
            </a:r>
          </a:p>
          <a:p>
            <a:pPr>
              <a:defRPr sz="1500"/>
            </a:pPr>
            <a:r>
              <a:t>宽基ETF底仓提供基准收益，个股贡献超额。</a:t>
            </a:r>
          </a:p>
        </p:txBody>
      </p:sp>
      <p:pic>
        <p:nvPicPr>
          <p:cNvPr id="4" name="Picture 3" descr="收益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当前投资组合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持仓逻辑：基本面评分 + 技术面趋势双确认；单只≤30%。</a:t>
            </a:r>
          </a:p>
          <a:p>
            <a:pPr>
              <a:defRPr sz="1500"/>
            </a:pPr>
            <a:r>
              <a:t>纪律：移动止损（自最高价回撤12%） + 固定止损 -8%。</a:t>
            </a:r>
          </a:p>
          <a:p>
            <a:pPr>
              <a:defRPr sz="1500"/>
            </a:pPr>
            <a:r>
              <a:t>主要风险：市场系统性回调、行业政策变化。</a:t>
            </a:r>
          </a:p>
        </p:txBody>
      </p:sp>
      <p:pic>
        <p:nvPicPr>
          <p:cNvPr id="4" name="Picture 3" descr="持仓结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2758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77440"/>
          <a:ext cx="1109441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证券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持仓(股)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成本价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现价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市值(万元)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浮盈(万元)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证券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持仓(股)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成本价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现价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市值(万元)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浮盈(万元)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长江电力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美的集团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新集能源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恺英网络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-1.46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星网锐捷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-6.2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深信服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136.73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哈药股份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-0.89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招商轮船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-0.22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睿创微纳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177.58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148.88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-2.87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药明康德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158.08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141.31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-2.18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康龙化成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42.65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-0.54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赤峰黄金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43.56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-2.02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投资逻辑（候选池Top5）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紫金矿业（601899，有色金属）：综合75.0分；基本面优秀，具备中长期配置价值；趋势中性，观望。</a:t>
            </a:r>
          </a:p>
          <a:p>
            <a:pPr>
              <a:defRPr sz="1500"/>
            </a:pPr>
            <a:r>
              <a:t>宁德时代（300750，新能源电池）：综合74.5分；基本面优秀，具备中长期配置价值；趋势中性，观望。</a:t>
            </a:r>
          </a:p>
          <a:p>
            <a:pPr>
              <a:defRPr sz="1500"/>
            </a:pPr>
            <a:r>
              <a:t>长江电力（600900，电力）：综合70.0分；基本面优秀，具备中长期配置价值；中期趋势向上，可关注/持有。</a:t>
            </a:r>
          </a:p>
          <a:p>
            <a:pPr>
              <a:defRPr sz="1500"/>
            </a:pPr>
            <a:r>
              <a:t>美的集团（000333，家电）：综合67.5分；基本面优秀，具备中长期配置价值；中期趋势向上，可关注/持有。</a:t>
            </a:r>
          </a:p>
          <a:p>
            <a:pPr>
              <a:defRPr sz="1500"/>
            </a:pPr>
            <a:r>
              <a:t>立讯精密（002475，消费电子）：综合67.5分；基本面优秀，具备中长期配置价值；趋势中性，观望。</a:t>
            </a:r>
          </a:p>
        </p:txBody>
      </p:sp>
      <p:pic>
        <p:nvPicPr>
          <p:cNvPr id="4" name="Picture 3" descr="候选池评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418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策略验证：为什么改成移动止损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用回测检验策略，而不是凭感觉调参数。</a:t>
            </a:r>
          </a:p>
          <a:p>
            <a:pPr>
              <a:defRPr sz="1500"/>
            </a:pPr>
            <a:r>
              <a:t>固定止盈+9%：无偏回测 15.45%，最大回撤 -10.71%。</a:t>
            </a:r>
          </a:p>
          <a:p>
            <a:pPr>
              <a:defRPr sz="1500"/>
            </a:pPr>
            <a:r>
              <a:t>移动止损（回撤12%）：无偏回测 33.40%，最大回撤 -11.58%。</a:t>
            </a:r>
          </a:p>
          <a:p>
            <a:pPr>
              <a:defRPr sz="1500"/>
            </a:pPr>
            <a:r>
              <a:t>交易笔数由 106 笔降到 61 笔——换手越低、费用损耗越小。</a:t>
            </a:r>
          </a:p>
          <a:p>
            <a:pPr>
              <a:defRPr sz="1500"/>
            </a:pPr>
            <a:r>
              <a:t>前视偏差检验：用“今天的财务数据”回测过去会产生前视偏差：打乱基本面分数后收益从 51.92% 掉到 8.69%，而基本面统一为中性60分的口径为 9.88%，因此正式结论以中性口径的无偏对照为准。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阶段复盘与下一步计划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做得好：买入前完成基本面+技术面双检查，规则引擎前置校验，纪律执行止损。</a:t>
            </a:r>
          </a:p>
          <a:p>
            <a:pPr>
              <a:defRPr sz="1500"/>
            </a:pPr>
            <a:r>
              <a:t>待改进：对宏观消息反应偏慢；行业集中度需再平衡；回测与实盘的样本仍偏少。</a:t>
            </a:r>
          </a:p>
          <a:p>
            <a:pPr>
              <a:defRPr sz="1500"/>
            </a:pPr>
            <a:r>
              <a:t>下一步：跟踪决策后 T+5/T+10/T+20 超额收益；候选池评分变化及时调仓；保持现金≥20%。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