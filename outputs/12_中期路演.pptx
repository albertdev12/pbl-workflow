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94415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600" b="1"/>
            </a:pPr>
            <a:r>
              <a:t>模拟证券投资大赛·中期路演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234440"/>
            <a:ext cx="10911535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500"/>
            </a:pPr>
            <a:r>
              <a:t>课程：证券期货操作实验　平台：同花顺模拟炒股</a:t>
            </a:r>
          </a:p>
          <a:p>
            <a:pPr>
              <a:defRPr sz="1500"/>
            </a:pPr>
            <a:r>
              <a:t>汇报内容：投资表现 / 收益对比 / 当前持仓 / 投资逻辑 / 阶段复盘 / 下一步计划</a:t>
            </a:r>
          </a:p>
          <a:p>
            <a:pPr>
              <a:defRPr sz="1500"/>
            </a:pPr>
            <a:r>
              <a:t>数据截止：2026-09-21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94415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600" b="1"/>
            </a:pPr>
            <a:r>
              <a:t>1. 当前投资表现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234440"/>
            <a:ext cx="603504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500"/>
            </a:pPr>
            <a:r>
              <a:t>初始资金：500万元</a:t>
            </a:r>
          </a:p>
          <a:p>
            <a:pPr>
              <a:defRPr sz="1500"/>
            </a:pPr>
            <a:r>
              <a:t>当前总资产：488.79万元</a:t>
            </a:r>
          </a:p>
          <a:p>
            <a:pPr>
              <a:defRPr sz="1500"/>
            </a:pPr>
            <a:r>
              <a:t>累计收益率：-2.24%</a:t>
            </a:r>
          </a:p>
          <a:p>
            <a:pPr>
              <a:defRPr sz="1500"/>
            </a:pPr>
            <a:r>
              <a:t>同期沪深300：-0.19%</a:t>
            </a:r>
          </a:p>
          <a:p>
            <a:pPr>
              <a:defRPr sz="1500"/>
            </a:pPr>
            <a:r>
              <a:t>现金：96.66万元（19.8%）</a:t>
            </a:r>
          </a:p>
          <a:p>
            <a:pPr>
              <a:defRPr sz="1500"/>
            </a:pPr>
            <a:r>
              <a:t>持仓：14只，累计交易34笔</a:t>
            </a:r>
          </a:p>
        </p:txBody>
      </p:sp>
      <p:pic>
        <p:nvPicPr>
          <p:cNvPr id="4" name="Picture 3" descr="净值曲线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766560" y="1371600"/>
            <a:ext cx="5120640" cy="2304288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94415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600" b="1"/>
            </a:pPr>
            <a:r>
              <a:t>2. 收益对比（同起点）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234440"/>
            <a:ext cx="603504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500"/>
            </a:pPr>
            <a:r>
              <a:t>对比口径：以组合首个净值日为共同起点。</a:t>
            </a:r>
          </a:p>
          <a:p>
            <a:pPr>
              <a:defRPr sz="1500"/>
            </a:pPr>
            <a:r>
              <a:t>组合收益 = 交易盈亏 + 浮动盈亏 − 交易费用。</a:t>
            </a:r>
          </a:p>
          <a:p>
            <a:pPr>
              <a:defRPr sz="1500"/>
            </a:pPr>
            <a:r>
              <a:t>宽基ETF底仓提供基准收益，个股贡献超额。</a:t>
            </a:r>
          </a:p>
        </p:txBody>
      </p:sp>
      <p:pic>
        <p:nvPicPr>
          <p:cNvPr id="4" name="Picture 3" descr="收益对比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766560" y="1371600"/>
            <a:ext cx="5120640" cy="2560320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94415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600" b="1"/>
            </a:pPr>
            <a:r>
              <a:t>3. 当前投资组合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234440"/>
            <a:ext cx="603504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500"/>
            </a:pPr>
            <a:r>
              <a:t>持仓逻辑：基本面评分 + 技术面趋势双确认；单只≤30%。</a:t>
            </a:r>
          </a:p>
          <a:p>
            <a:pPr>
              <a:defRPr sz="1500"/>
            </a:pPr>
            <a:r>
              <a:t>纪律：移动止损（自最高价回撤12%） + 固定止损 -8%。</a:t>
            </a:r>
          </a:p>
          <a:p>
            <a:pPr>
              <a:defRPr sz="1500"/>
            </a:pPr>
            <a:r>
              <a:t>主要风险：市场系统性回调、行业政策变化。</a:t>
            </a:r>
          </a:p>
        </p:txBody>
      </p:sp>
      <p:pic>
        <p:nvPicPr>
          <p:cNvPr id="4" name="Picture 3" descr="持仓结构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766560" y="1371600"/>
            <a:ext cx="5120640" cy="2275840"/>
          </a:xfrm>
          <a:prstGeom prst="rect">
            <a:avLst/>
          </a:prstGeom>
        </p:spPr>
      </p:pic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548640" y="2377440"/>
          <a:ext cx="11094415" cy="38404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849069"/>
                <a:gridCol w="1849069"/>
                <a:gridCol w="1849069"/>
                <a:gridCol w="1849069"/>
                <a:gridCol w="1849069"/>
                <a:gridCol w="1849070"/>
              </a:tblGrid>
              <a:tr h="240030">
                <a:tc>
                  <a:txBody>
                    <a:bodyPr/>
                    <a:lstStyle/>
                    <a:p>
                      <a:pPr>
                        <a:defRPr sz="1200"/>
                      </a:pPr>
                      <a:r>
                        <a:t>证券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200"/>
                      </a:pPr>
                      <a:r>
                        <a:t>持仓(股)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200"/>
                      </a:pPr>
                      <a:r>
                        <a:t>成本价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200"/>
                      </a:pPr>
                      <a:r>
                        <a:t>现价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200"/>
                      </a:pPr>
                      <a:r>
                        <a:t>市值(万元)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200"/>
                      </a:pPr>
                      <a:r>
                        <a:t>浮盈(万元)</a:t>
                      </a:r>
                    </a:p>
                  </a:txBody>
                  <a:tcPr/>
                </a:tc>
              </a:tr>
              <a:tr h="240030"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t>证券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t>持仓(股)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t>成本价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t>现价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t>市值(万元)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t>浮盈(万元)</a:t>
                      </a:r>
                    </a:p>
                  </a:txBody>
                  <a:tcPr/>
                </a:tc>
              </a:tr>
              <a:tr h="240030"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t>沪深300ETF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t>258900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t>4.64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t>4.608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t>119.3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t>-0.85</a:t>
                      </a:r>
                    </a:p>
                  </a:txBody>
                  <a:tcPr/>
                </a:tc>
              </a:tr>
              <a:tr h="240030"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t>中国平安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t>18200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t>56.12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t>53.98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t>98.24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t>-3.89</a:t>
                      </a:r>
                    </a:p>
                  </a:txBody>
                  <a:tcPr/>
                </a:tc>
              </a:tr>
              <a:tr h="240030"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t>紫金矿业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t>10300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t>31.41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t>31.3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t>32.24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t>-0.11</a:t>
                      </a:r>
                    </a:p>
                  </a:txBody>
                  <a:tcPr/>
                </a:tc>
              </a:tr>
              <a:tr h="240030"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t>长江电力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t>9300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t>27.89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t>28.1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t>26.13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t>0.2</a:t>
                      </a:r>
                    </a:p>
                  </a:txBody>
                  <a:tcPr/>
                </a:tc>
              </a:tr>
              <a:tr h="240030"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t>新集能源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t>9500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t>10.47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t>10.7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t>10.16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t>0.22</a:t>
                      </a:r>
                    </a:p>
                  </a:txBody>
                  <a:tcPr/>
                </a:tc>
              </a:tr>
              <a:tr h="240030"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t>恺英网络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t>5000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t>17.52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t>16.78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t>8.39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t>-0.37</a:t>
                      </a:r>
                    </a:p>
                  </a:txBody>
                  <a:tcPr/>
                </a:tc>
              </a:tr>
              <a:tr h="240030"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t>星网锐捷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t>6100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t>35.87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t>37.74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t>23.02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t>1.14</a:t>
                      </a:r>
                    </a:p>
                  </a:txBody>
                  <a:tcPr/>
                </a:tc>
              </a:tr>
              <a:tr h="240030"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t>深信服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t>500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t>136.73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t>143.25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t>7.16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t>0.33</a:t>
                      </a:r>
                    </a:p>
                  </a:txBody>
                  <a:tcPr/>
                </a:tc>
              </a:tr>
              <a:tr h="240030"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t>哈药股份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t>5000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t>7.33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t>8.25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t>4.12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t>0.46</a:t>
                      </a:r>
                    </a:p>
                  </a:txBody>
                  <a:tcPr/>
                </a:tc>
              </a:tr>
              <a:tr h="240030"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t>招商轮船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t>500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t>20.76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t>22.91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t>1.15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t>0.11</a:t>
                      </a:r>
                    </a:p>
                  </a:txBody>
                  <a:tcPr/>
                </a:tc>
              </a:tr>
              <a:tr h="240030"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t>睿创微纳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t>1000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t>177.58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t>186.73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t>18.67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t>0.91</a:t>
                      </a:r>
                    </a:p>
                  </a:txBody>
                  <a:tcPr/>
                </a:tc>
              </a:tr>
              <a:tr h="240030"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t>药明康德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t>1300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t>158.08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t>167.96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t>21.83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t>1.28</a:t>
                      </a:r>
                    </a:p>
                  </a:txBody>
                  <a:tcPr/>
                </a:tc>
              </a:tr>
              <a:tr h="240030"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t>康龙化成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t>1000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t>42.65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t>45.13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t>4.51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t>0.25</a:t>
                      </a:r>
                    </a:p>
                  </a:txBody>
                  <a:tcPr/>
                </a:tc>
              </a:tr>
              <a:tr h="240030"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t>赤峰黄金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t>4000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t>43.56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t>42.96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t>17.18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t>-0.24</a:t>
                      </a:r>
                    </a:p>
                  </a:txBody>
                  <a:tcPr/>
                </a:tc>
              </a:tr>
            </a:tbl>
          </a:graphicData>
        </a:graphic>
      </p:graphicFrame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94415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600" b="1"/>
            </a:pPr>
            <a:r>
              <a:t>4. 投资逻辑（候选池Top5）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234440"/>
            <a:ext cx="603504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500"/>
            </a:pPr>
            <a:r>
              <a:t>宁德时代（300750，新能源电池）：综合73.0分；基本面优秀，具备中长期配置价值；趋势中性，观望。</a:t>
            </a:r>
          </a:p>
          <a:p>
            <a:pPr>
              <a:defRPr sz="1500"/>
            </a:pPr>
            <a:r>
              <a:t>紫金矿业（601899，有色金属）：综合73.0分；基本面优秀，具备中长期配置价值；趋势中性，观望。</a:t>
            </a:r>
          </a:p>
          <a:p>
            <a:pPr>
              <a:defRPr sz="1500"/>
            </a:pPr>
            <a:r>
              <a:t>中国平安（601318，保险）：综合71.0分；基本面优秀，具备中长期配置价值；中期趋势向上，可关注/持有。</a:t>
            </a:r>
          </a:p>
          <a:p>
            <a:pPr>
              <a:defRPr sz="1500"/>
            </a:pPr>
            <a:r>
              <a:t>招商银行（600036，银行）：综合66.0分；基本面优秀，具备中长期配置价值；中期趋势向上，可关注/持有。</a:t>
            </a:r>
          </a:p>
          <a:p>
            <a:pPr>
              <a:defRPr sz="1500"/>
            </a:pPr>
            <a:r>
              <a:t>长江电力（600900，电力）：综合65.0分；基本面优秀，具备中长期配置价值；趋势中性，观望。</a:t>
            </a:r>
          </a:p>
        </p:txBody>
      </p:sp>
      <p:pic>
        <p:nvPicPr>
          <p:cNvPr id="4" name="Picture 3" descr="候选池评分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766560" y="1371600"/>
            <a:ext cx="5120640" cy="2418080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94415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600" b="1"/>
            </a:pPr>
            <a:r>
              <a:t>5. 策略验证：为什么改成移动止损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234440"/>
            <a:ext cx="10911535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500"/>
            </a:pPr>
            <a:r>
              <a:t>用回测检验策略，而不是凭感觉调参数。</a:t>
            </a:r>
          </a:p>
          <a:p>
            <a:pPr>
              <a:defRPr sz="1500"/>
            </a:pPr>
            <a:r>
              <a:t>固定止盈+9%：无偏回测 15.45%，最大回撤 -10.71%。</a:t>
            </a:r>
          </a:p>
          <a:p>
            <a:pPr>
              <a:defRPr sz="1500"/>
            </a:pPr>
            <a:r>
              <a:t>移动止损（回撤12%）：无偏回测 33.40%，最大回撤 -11.58%。</a:t>
            </a:r>
          </a:p>
          <a:p>
            <a:pPr>
              <a:defRPr sz="1500"/>
            </a:pPr>
            <a:r>
              <a:t>交易笔数由 106 笔降到 61 笔——换手越低、费用损耗越小。</a:t>
            </a:r>
          </a:p>
          <a:p>
            <a:pPr>
              <a:defRPr sz="1500"/>
            </a:pPr>
            <a:r>
              <a:t>前视偏差检验：用“今天的财务数据”回测过去会产生前视偏差：打乱基本面分数后收益从 51.92% 掉到 8.69%，而基本面统一为中性60分的口径为 9.88%，因此正式结论以中性口径的无偏对照为准。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94415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600" b="1"/>
            </a:pPr>
            <a:r>
              <a:t>6. 阶段复盘与下一步计划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234440"/>
            <a:ext cx="10911535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500"/>
            </a:pPr>
            <a:r>
              <a:t>做得好：买入前完成基本面+技术面双检查，规则引擎前置校验，纪律执行止损。</a:t>
            </a:r>
          </a:p>
          <a:p>
            <a:pPr>
              <a:defRPr sz="1500"/>
            </a:pPr>
            <a:r>
              <a:t>待改进：对宏观消息反应偏慢；行业集中度需再平衡；回测与实盘的样本仍偏少。</a:t>
            </a:r>
          </a:p>
          <a:p>
            <a:pPr>
              <a:defRPr sz="1500"/>
            </a:pPr>
            <a:r>
              <a:t>下一步：跟踪决策后 T+5/T+10/T+20 超额收益；候选池评分变化及时调仓；保持现金≥20%。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