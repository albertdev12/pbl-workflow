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当前总资产：487.54万元</a:t>
            </a:r>
          </a:p>
          <a:p>
            <a:pPr>
              <a:defRPr sz="1500"/>
            </a:pPr>
            <a:r>
              <a:t>累计收益率：-2.49%</a:t>
            </a:r>
          </a:p>
          <a:p>
            <a:pPr>
              <a:defRPr sz="1500"/>
            </a:pPr>
            <a:r>
              <a:t>同期沪深300：-1.49%</a:t>
            </a:r>
          </a:p>
          <a:p>
            <a:pPr>
              <a:defRPr sz="1500"/>
            </a:pPr>
            <a:r>
              <a:t>现金：96.09万元（19.7%）</a:t>
            </a:r>
          </a:p>
          <a:p>
            <a:pPr>
              <a:defRPr sz="1500"/>
            </a:pPr>
            <a:r>
              <a:t>持仓：11只，累计交易25笔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95421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95421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95421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4.552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117.85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-2.3</a:t>
                      </a:r>
                    </a:p>
                  </a:txBody>
                  <a:tcPr/>
                </a:tc>
              </a:tr>
              <a:tr h="295421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54.73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116.03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-2.95</a:t>
                      </a:r>
                    </a:p>
                  </a:txBody>
                  <a:tcPr/>
                </a:tc>
              </a:tr>
              <a:tr h="295421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32.25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62.24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-3.24</a:t>
                      </a:r>
                    </a:p>
                  </a:txBody>
                  <a:tcPr/>
                </a:tc>
              </a:tr>
              <a:tr h="295421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0.69</a:t>
                      </a:r>
                    </a:p>
                  </a:txBody>
                  <a:tcPr/>
                </a:tc>
              </a:tr>
              <a:tr h="295421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-0.14</a:t>
                      </a:r>
                    </a:p>
                  </a:txBody>
                  <a:tcPr/>
                </a:tc>
              </a:tr>
              <a:tr h="295421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-0.25</a:t>
                      </a:r>
                    </a:p>
                  </a:txBody>
                  <a:tcPr/>
                </a:tc>
              </a:tr>
              <a:tr h="295421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34.82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-0.64</a:t>
                      </a:r>
                    </a:p>
                  </a:txBody>
                  <a:tcPr/>
                </a:tc>
              </a:tr>
              <a:tr h="295421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134.26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-0.12</a:t>
                      </a:r>
                    </a:p>
                  </a:txBody>
                  <a:tcPr/>
                </a:tc>
              </a:tr>
              <a:tr h="295421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-0.02</a:t>
                      </a:r>
                    </a:p>
                  </a:txBody>
                  <a:tcPr/>
                </a:tc>
              </a:tr>
              <a:tr h="295421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-0.04</a:t>
                      </a:r>
                    </a:p>
                  </a:txBody>
                  <a:tcPr/>
                </a:tc>
              </a:tr>
              <a:tr h="295428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紫金矿业（601899，有色金属）：综合78.0分；基本面优秀，具备中长期配置价值；趋势中性，观望。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长江电力（600900，电力）：综合74.0分；基本面优秀，具备中长期配置价值；中期趋势向上，可关注/持有。</a:t>
            </a:r>
          </a:p>
          <a:p>
            <a:pPr>
              <a:defRPr sz="1500"/>
            </a:pPr>
            <a:r>
              <a:t>宁德时代（300750，新能源电池）：综合70.5分；基本面优秀，具备中长期配置价值；趋势中性，观望。</a:t>
            </a:r>
          </a:p>
          <a:p>
            <a:pPr>
              <a:defRPr sz="1500"/>
            </a:pPr>
            <a:r>
              <a:t>招商银行（600036，银行）：综合69.0分；基本面优秀，具备中长期配置价值；中期趋势向上，可关注/持有。</a:t>
            </a:r>
          </a:p>
          <a:p>
            <a:pPr>
              <a:defRPr sz="1500"/>
            </a:pPr>
            <a:r>
              <a:t>中国平安（601318，保险）：综合69.0分；基本面优秀，具备中长期配置价值；趋势中性，观望。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