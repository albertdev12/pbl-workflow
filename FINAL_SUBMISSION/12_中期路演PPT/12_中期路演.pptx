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模拟证券投资大赛·中期路演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课程：证券期货操作实验　平台：同花顺模拟炒股</a:t>
            </a:r>
          </a:p>
          <a:p>
            <a:pPr>
              <a:defRPr sz="1500"/>
            </a:pPr>
            <a:r>
              <a:t>汇报内容：投资表现 / 收益对比 / 当前持仓 / 投资逻辑 / 阶段复盘 / 下一步计划</a:t>
            </a:r>
          </a:p>
          <a:p>
            <a:pPr>
              <a:defRPr sz="1500"/>
            </a:pPr>
            <a:r>
              <a:t>数据截止：2026-09-08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1. 当前投资表现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初始资金：500万元</a:t>
            </a:r>
          </a:p>
          <a:p>
            <a:pPr>
              <a:defRPr sz="1500"/>
            </a:pPr>
            <a:r>
              <a:t>当前总资产：499.07万元</a:t>
            </a:r>
          </a:p>
          <a:p>
            <a:pPr>
              <a:defRPr sz="1500"/>
            </a:pPr>
            <a:r>
              <a:t>累计收益率：-0.19%</a:t>
            </a:r>
          </a:p>
          <a:p>
            <a:pPr>
              <a:defRPr sz="1500"/>
            </a:pPr>
            <a:r>
              <a:t>同期沪深300：+0.24%</a:t>
            </a:r>
          </a:p>
          <a:p>
            <a:pPr>
              <a:defRPr sz="1500"/>
            </a:pPr>
            <a:r>
              <a:t>现金：100.06万元（20.0%）</a:t>
            </a:r>
          </a:p>
          <a:p>
            <a:pPr>
              <a:defRPr sz="1500"/>
            </a:pPr>
            <a:r>
              <a:t>持仓：4只，累计交易4笔</a:t>
            </a:r>
          </a:p>
        </p:txBody>
      </p:sp>
      <p:pic>
        <p:nvPicPr>
          <p:cNvPr id="4" name="Picture 3" descr="净值曲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5120640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2. 收益对比（同起点）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对比口径：以组合首个净值日为共同起点。</a:t>
            </a:r>
          </a:p>
          <a:p>
            <a:pPr>
              <a:defRPr sz="1500"/>
            </a:pPr>
            <a:r>
              <a:t>组合收益 = 交易盈亏 + 浮动盈亏 − 交易费用。</a:t>
            </a:r>
          </a:p>
          <a:p>
            <a:pPr>
              <a:defRPr sz="1500"/>
            </a:pPr>
            <a:r>
              <a:t>宽基ETF底仓提供基准收益，个股贡献超额。</a:t>
            </a:r>
          </a:p>
        </p:txBody>
      </p:sp>
      <p:pic>
        <p:nvPicPr>
          <p:cNvPr id="4" name="Picture 3" descr="收益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3. 当前投资组合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持仓逻辑：基本面评分 + 技术面趋势双确认；单只≤30%。</a:t>
            </a:r>
          </a:p>
          <a:p>
            <a:pPr>
              <a:defRPr sz="1500"/>
            </a:pPr>
            <a:r>
              <a:t>纪律：移动止损（自最高价回撤12%） + 固定止损 -8%。</a:t>
            </a:r>
          </a:p>
          <a:p>
            <a:pPr>
              <a:defRPr sz="1500"/>
            </a:pPr>
            <a:r>
              <a:t>主要风险：市场系统性回调、行业政策变化。</a:t>
            </a:r>
          </a:p>
        </p:txBody>
      </p:sp>
      <p:pic>
        <p:nvPicPr>
          <p:cNvPr id="4" name="Picture 3" descr="持仓结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5120640" cy="22758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77440"/>
          <a:ext cx="1109441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证券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持仓(股)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成本价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现价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市值(万元)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浮盈(万元)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证券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持仓(股)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成本价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现价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市值(万元)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浮盈(万元)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沪深300ETF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258900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119.72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-0.44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长江电力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27.87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37.62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中国平安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118.08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-0.89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紫金矿业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36500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123.59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4. 投资逻辑（候选池Top5）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紫金矿业（601899，有色金属）：综合80.0分；基本面优秀，具备中长期配置价值；中期趋势向上，可关注/持有。</a:t>
            </a:r>
          </a:p>
          <a:p>
            <a:pPr>
              <a:defRPr sz="1500"/>
            </a:pPr>
            <a:r>
              <a:t>中国平安（601318，保险）：综合72.0分；基本面优秀，具备中长期配置价值；中期趋势向上，可关注/持有。</a:t>
            </a:r>
          </a:p>
          <a:p>
            <a:pPr>
              <a:defRPr sz="1500"/>
            </a:pPr>
            <a:r>
              <a:t>长江电力（600900，电力）：综合70.0分；基本面优秀，具备中长期配置价值；中期趋势向上，可关注/持有。</a:t>
            </a:r>
          </a:p>
          <a:p>
            <a:pPr>
              <a:defRPr sz="1500"/>
            </a:pPr>
            <a:r>
              <a:t>宁德时代（300750，新能源电池）：综合68.5分；基本面优秀，具备中长期配置价值；趋势中性，观望。</a:t>
            </a:r>
          </a:p>
          <a:p>
            <a:pPr>
              <a:defRPr sz="1500"/>
            </a:pPr>
            <a:r>
              <a:t>招商银行（600036，银行）：综合67.0分；基本面优秀，具备中长期配置价值；中期趋势向上，可关注/持有。</a:t>
            </a:r>
          </a:p>
        </p:txBody>
      </p:sp>
      <p:pic>
        <p:nvPicPr>
          <p:cNvPr id="4" name="Picture 3" descr="候选池评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5120640" cy="2418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5. 策略验证：为什么改成移动止损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用回测检验策略，而不是凭感觉调参数。</a:t>
            </a:r>
          </a:p>
          <a:p>
            <a:pPr>
              <a:defRPr sz="1500"/>
            </a:pPr>
            <a:r>
              <a:t>固定止盈+9%：无偏回测 -2.75%，最大回撤 -16.93%。</a:t>
            </a:r>
          </a:p>
          <a:p>
            <a:pPr>
              <a:defRPr sz="1500"/>
            </a:pPr>
            <a:r>
              <a:t>移动止损（回撤12%）：无偏回测 20.76%，最大回撤 -12.54%。</a:t>
            </a:r>
          </a:p>
          <a:p>
            <a:pPr>
              <a:defRPr sz="1500"/>
            </a:pPr>
            <a:r>
              <a:t>交易笔数由 110 笔降到 64 笔——换手越低、费用损耗越小。</a:t>
            </a:r>
          </a:p>
          <a:p>
            <a:pPr>
              <a:defRPr sz="1500"/>
            </a:pPr>
            <a:r>
              <a:t>前视偏差检验：打乱基本面分数后收益由 +52.8% 降至 +3.5%，因此只信无偏对照。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6. 阶段复盘与下一步计划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做得好：买入前完成基本面+技术面双检查，规则引擎前置校验，纪律执行止损。</a:t>
            </a:r>
          </a:p>
          <a:p>
            <a:pPr>
              <a:defRPr sz="1500"/>
            </a:pPr>
            <a:r>
              <a:t>待改进：对宏观消息反应偏慢；行业集中度需再平衡；回测与实盘的样本仍偏少。</a:t>
            </a:r>
          </a:p>
          <a:p>
            <a:pPr>
              <a:defRPr sz="1500"/>
            </a:pPr>
            <a:r>
              <a:t>下一步：跟踪决策后 T+5/T+10/T+20 超额收益；候选池评分变化及时调仓；保持现金≥20%。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